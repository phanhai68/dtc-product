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4"/>
  </p:sldMasterIdLst>
  <p:notesMasterIdLst>
    <p:notesMasterId r:id="rId10"/>
  </p:notesMasterIdLst>
  <p:sldIdLst>
    <p:sldId id="257" r:id="rId5"/>
    <p:sldId id="258" r:id="rId6"/>
    <p:sldId id="259" r:id="rId7"/>
    <p:sldId id="260" r:id="rId8"/>
    <p:sldId id="261" r:id="rId9"/>
  </p:sldIdLst>
  <p:sldSz cx="18288000" cy="10287000"/>
  <p:notesSz cx="6858000" cy="9144000"/>
  <p:embeddedFontLst>
    <p:embeddedFont>
      <p:font typeface="Arial" panose="020B0604020202020204" pitchFamily="34" charset="0"/>
      <p:regular r:id="rId11"/>
    </p:embeddedFont>
    <p:embeddedFont>
      <p:font typeface="Arimo" panose="020B0604020202020204" charset="0"/>
      <p:regular r:id="rId12"/>
    </p:embeddedFont>
    <p:embeddedFont>
      <p:font typeface="Arimo Bold" panose="020B0604020202020204" charset="0"/>
      <p:regular r:id="rId13"/>
    </p:embeddedFont>
    <p:embeddedFont>
      <p:font typeface="Calibri" panose="020F0502020204030204" pitchFamily="34" charset="0"/>
      <p:regular r:id="rId14"/>
      <p:bold r:id="rId15"/>
      <p:italic r:id="rId16"/>
      <p:boldItalic r:id="rId1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66" d="100"/>
          <a:sy n="66" d="100"/>
        </p:scale>
        <p:origin x="-652" y="-25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3.fntdata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" Type="http://schemas.openxmlformats.org/officeDocument/2006/relationships/customXml" Target="../customXml/item2.xml"/><Relationship Id="rId16" Type="http://schemas.openxmlformats.org/officeDocument/2006/relationships/font" Target="fonts/font6.fntdata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font" Target="fonts/font1.fntdata"/><Relationship Id="rId5" Type="http://schemas.openxmlformats.org/officeDocument/2006/relationships/slide" Target="slides/slide1.xml"/><Relationship Id="rId15" Type="http://schemas.openxmlformats.org/officeDocument/2006/relationships/font" Target="fonts/font5.fntdata"/><Relationship Id="rId10" Type="http://schemas.openxmlformats.org/officeDocument/2006/relationships/notesMaster" Target="notesMasters/notesMaster1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font" Target="fonts/font4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15.09.2026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&lt;number&gt;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11.svg"/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12" Type="http://schemas.openxmlformats.org/officeDocument/2006/relationships/image" Target="../media/image10.png"/><Relationship Id="rId17" Type="http://schemas.openxmlformats.org/officeDocument/2006/relationships/image" Target="../media/image15.sv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4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4.png"/><Relationship Id="rId11" Type="http://schemas.openxmlformats.org/officeDocument/2006/relationships/image" Target="../media/image9.svg"/><Relationship Id="rId5" Type="http://schemas.openxmlformats.org/officeDocument/2006/relationships/image" Target="../media/image3.png"/><Relationship Id="rId15" Type="http://schemas.openxmlformats.org/officeDocument/2006/relationships/image" Target="../media/image13.svg"/><Relationship Id="rId10" Type="http://schemas.openxmlformats.org/officeDocument/2006/relationships/image" Target="../media/image8.png"/><Relationship Id="rId4" Type="http://schemas.openxmlformats.org/officeDocument/2006/relationships/image" Target="../media/image2.png"/><Relationship Id="rId9" Type="http://schemas.openxmlformats.org/officeDocument/2006/relationships/image" Target="../media/image7.svg"/><Relationship Id="rId14" Type="http://schemas.openxmlformats.org/officeDocument/2006/relationships/image" Target="../media/image1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5 Công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Nghệ</a:t>
              </a: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Cốt</a:t>
              </a:r>
              <a:r>
                <a:rPr lang="en-US" sz="3600" b="1" spc="-1" dirty="0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 </a:t>
              </a:r>
              <a:r>
                <a:rPr lang="en-US" sz="3600" b="1" spc="-1" dirty="0" err="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Lõi</a:t>
              </a:r>
              <a:endParaRPr lang="en-US" sz="3600" b="1" spc="-1" dirty="0">
                <a:solidFill>
                  <a:srgbClr val="3A3A3A"/>
                </a:solidFill>
                <a:latin typeface="Arimo Bold"/>
                <a:ea typeface="Arimo Bold"/>
                <a:cs typeface="Arimo Bold"/>
                <a:sym typeface="Arimo Bold"/>
              </a:endParaRP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693440" y="2364660"/>
            <a:ext cx="3588300" cy="2309580"/>
            <a:chOff x="0" y="0"/>
            <a:chExt cx="4784400" cy="307944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4784344" cy="3079496"/>
            </a:xfrm>
            <a:custGeom>
              <a:avLst/>
              <a:gdLst/>
              <a:ahLst/>
              <a:cxnLst/>
              <a:rect l="l" t="t" r="r" b="b"/>
              <a:pathLst>
                <a:path w="4784344" h="3079496">
                  <a:moveTo>
                    <a:pt x="0" y="96266"/>
                  </a:moveTo>
                  <a:cubicBezTo>
                    <a:pt x="0" y="43053"/>
                    <a:pt x="43180" y="0"/>
                    <a:pt x="96393" y="0"/>
                  </a:cubicBezTo>
                  <a:lnTo>
                    <a:pt x="4687951" y="0"/>
                  </a:lnTo>
                  <a:lnTo>
                    <a:pt x="4687951" y="9398"/>
                  </a:lnTo>
                  <a:lnTo>
                    <a:pt x="4687951" y="0"/>
                  </a:lnTo>
                  <a:cubicBezTo>
                    <a:pt x="4741164" y="0"/>
                    <a:pt x="4784344" y="43053"/>
                    <a:pt x="4784344" y="96266"/>
                  </a:cubicBezTo>
                  <a:lnTo>
                    <a:pt x="4774946" y="96266"/>
                  </a:lnTo>
                  <a:lnTo>
                    <a:pt x="4784344" y="96266"/>
                  </a:lnTo>
                  <a:lnTo>
                    <a:pt x="4784344" y="2983230"/>
                  </a:lnTo>
                  <a:lnTo>
                    <a:pt x="4774946" y="2983230"/>
                  </a:lnTo>
                  <a:lnTo>
                    <a:pt x="4784344" y="2983230"/>
                  </a:lnTo>
                  <a:cubicBezTo>
                    <a:pt x="4784344" y="3036443"/>
                    <a:pt x="4741164" y="3079496"/>
                    <a:pt x="4687951" y="3079496"/>
                  </a:cubicBezTo>
                  <a:lnTo>
                    <a:pt x="4687951" y="3070098"/>
                  </a:lnTo>
                  <a:lnTo>
                    <a:pt x="4687951" y="3079496"/>
                  </a:lnTo>
                  <a:lnTo>
                    <a:pt x="96393" y="3079496"/>
                  </a:lnTo>
                  <a:lnTo>
                    <a:pt x="96393" y="3070098"/>
                  </a:lnTo>
                  <a:lnTo>
                    <a:pt x="96393" y="3079496"/>
                  </a:lnTo>
                  <a:cubicBezTo>
                    <a:pt x="43180" y="3079496"/>
                    <a:pt x="0" y="3036316"/>
                    <a:pt x="0" y="2983230"/>
                  </a:cubicBezTo>
                  <a:lnTo>
                    <a:pt x="0" y="96266"/>
                  </a:lnTo>
                  <a:lnTo>
                    <a:pt x="9398" y="96266"/>
                  </a:lnTo>
                  <a:lnTo>
                    <a:pt x="0" y="96266"/>
                  </a:lnTo>
                  <a:moveTo>
                    <a:pt x="18669" y="96266"/>
                  </a:moveTo>
                  <a:lnTo>
                    <a:pt x="18669" y="2983230"/>
                  </a:lnTo>
                  <a:lnTo>
                    <a:pt x="9398" y="2983230"/>
                  </a:lnTo>
                  <a:lnTo>
                    <a:pt x="18796" y="2983230"/>
                  </a:lnTo>
                  <a:cubicBezTo>
                    <a:pt x="18796" y="3026029"/>
                    <a:pt x="53594" y="3060700"/>
                    <a:pt x="96520" y="3060700"/>
                  </a:cubicBezTo>
                  <a:lnTo>
                    <a:pt x="4687951" y="3060700"/>
                  </a:lnTo>
                  <a:cubicBezTo>
                    <a:pt x="4730877" y="3060700"/>
                    <a:pt x="4765675" y="3026029"/>
                    <a:pt x="4765675" y="2983230"/>
                  </a:cubicBezTo>
                  <a:lnTo>
                    <a:pt x="4765675" y="96266"/>
                  </a:lnTo>
                  <a:cubicBezTo>
                    <a:pt x="4765675" y="53467"/>
                    <a:pt x="4730877" y="18796"/>
                    <a:pt x="4687951" y="18796"/>
                  </a:cubicBezTo>
                  <a:lnTo>
                    <a:pt x="96393" y="18796"/>
                  </a:lnTo>
                  <a:lnTo>
                    <a:pt x="96393" y="9398"/>
                  </a:lnTo>
                  <a:lnTo>
                    <a:pt x="96393" y="18796"/>
                  </a:lnTo>
                  <a:cubicBezTo>
                    <a:pt x="53467" y="18796"/>
                    <a:pt x="18669" y="53467"/>
                    <a:pt x="18669" y="96266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1728540" y="2579040"/>
            <a:ext cx="3546180" cy="375840"/>
            <a:chOff x="0" y="0"/>
            <a:chExt cx="4728240" cy="50112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28240" cy="501120"/>
            </a:xfrm>
            <a:custGeom>
              <a:avLst/>
              <a:gdLst/>
              <a:ahLst/>
              <a:cxnLst/>
              <a:rect l="l" t="t" r="r" b="b"/>
              <a:pathLst>
                <a:path w="4728240" h="501120">
                  <a:moveTo>
                    <a:pt x="0" y="0"/>
                  </a:moveTo>
                  <a:lnTo>
                    <a:pt x="4728240" y="0"/>
                  </a:lnTo>
                  <a:lnTo>
                    <a:pt x="4728240" y="501120"/>
                  </a:lnTo>
                  <a:lnTo>
                    <a:pt x="0" y="50112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10" name="TextBox 10"/>
            <p:cNvSpPr txBox="1"/>
            <p:nvPr/>
          </p:nvSpPr>
          <p:spPr>
            <a:xfrm>
              <a:off x="0" y="-19050"/>
              <a:ext cx="4728240" cy="52017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 spc="-1">
                  <a:solidFill>
                    <a:srgbClr val="3A3A3A"/>
                  </a:solidFill>
                  <a:latin typeface="Arimo"/>
                  <a:ea typeface="Arimo"/>
                  <a:cs typeface="Arimo"/>
                  <a:sym typeface="Arimo"/>
                </a:rPr>
                <a:t>Nền tảng PLOV 2.0</a:t>
              </a:r>
            </a:p>
          </p:txBody>
        </p:sp>
      </p:grpSp>
      <p:grpSp>
        <p:nvGrpSpPr>
          <p:cNvPr id="11" name="Group 11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sp>
        <p:nvSpPr>
          <p:cNvPr id="13" name="Freeform 13"/>
          <p:cNvSpPr/>
          <p:nvPr/>
        </p:nvSpPr>
        <p:spPr>
          <a:xfrm>
            <a:off x="2215926" y="3086100"/>
            <a:ext cx="2270664" cy="1157841"/>
          </a:xfrm>
          <a:custGeom>
            <a:avLst/>
            <a:gdLst/>
            <a:ahLst/>
            <a:cxnLst/>
            <a:rect l="l" t="t" r="r" b="b"/>
            <a:pathLst>
              <a:path w="2270664" h="1157841">
                <a:moveTo>
                  <a:pt x="0" y="0"/>
                </a:moveTo>
                <a:lnTo>
                  <a:pt x="2270664" y="0"/>
                </a:lnTo>
                <a:lnTo>
                  <a:pt x="2270664" y="1157841"/>
                </a:lnTo>
                <a:lnTo>
                  <a:pt x="0" y="115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grpSp>
        <p:nvGrpSpPr>
          <p:cNvPr id="14" name="Group 14"/>
          <p:cNvGrpSpPr/>
          <p:nvPr/>
        </p:nvGrpSpPr>
        <p:grpSpPr>
          <a:xfrm>
            <a:off x="6873998" y="2364660"/>
            <a:ext cx="4131000" cy="2309580"/>
            <a:chOff x="0" y="0"/>
            <a:chExt cx="5508000" cy="3079440"/>
          </a:xfrm>
        </p:grpSpPr>
        <p:grpSp>
          <p:nvGrpSpPr>
            <p:cNvPr id="15" name="Group 15"/>
            <p:cNvGrpSpPr/>
            <p:nvPr/>
          </p:nvGrpSpPr>
          <p:grpSpPr>
            <a:xfrm>
              <a:off x="162000" y="0"/>
              <a:ext cx="5165280" cy="3079440"/>
              <a:chOff x="0" y="0"/>
              <a:chExt cx="5165280" cy="307944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5165217" cy="3079496"/>
              </a:xfrm>
              <a:custGeom>
                <a:avLst/>
                <a:gdLst/>
                <a:ahLst/>
                <a:cxnLst/>
                <a:rect l="l" t="t" r="r" b="b"/>
                <a:pathLst>
                  <a:path w="5165217" h="3079496">
                    <a:moveTo>
                      <a:pt x="0" y="96266"/>
                    </a:moveTo>
                    <a:cubicBezTo>
                      <a:pt x="0" y="43053"/>
                      <a:pt x="43180" y="0"/>
                      <a:pt x="96393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037" y="0"/>
                      <a:pt x="5165217" y="43053"/>
                      <a:pt x="5165217" y="96266"/>
                    </a:cubicBezTo>
                    <a:lnTo>
                      <a:pt x="5155819" y="96266"/>
                    </a:lnTo>
                    <a:lnTo>
                      <a:pt x="5165217" y="96266"/>
                    </a:lnTo>
                    <a:lnTo>
                      <a:pt x="5165217" y="2983230"/>
                    </a:lnTo>
                    <a:lnTo>
                      <a:pt x="5155819" y="2983230"/>
                    </a:lnTo>
                    <a:lnTo>
                      <a:pt x="5165217" y="2983230"/>
                    </a:lnTo>
                    <a:cubicBezTo>
                      <a:pt x="5165217" y="3036443"/>
                      <a:pt x="5122037" y="3079496"/>
                      <a:pt x="5068824" y="3079496"/>
                    </a:cubicBezTo>
                    <a:lnTo>
                      <a:pt x="5068824" y="3070098"/>
                    </a:lnTo>
                    <a:lnTo>
                      <a:pt x="5068824" y="3079496"/>
                    </a:lnTo>
                    <a:lnTo>
                      <a:pt x="96393" y="3079496"/>
                    </a:lnTo>
                    <a:lnTo>
                      <a:pt x="96393" y="3070098"/>
                    </a:lnTo>
                    <a:lnTo>
                      <a:pt x="96393" y="3079496"/>
                    </a:lnTo>
                    <a:cubicBezTo>
                      <a:pt x="43180" y="3079496"/>
                      <a:pt x="0" y="3036443"/>
                      <a:pt x="0" y="2983230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3230"/>
                    </a:lnTo>
                    <a:lnTo>
                      <a:pt x="9398" y="2983230"/>
                    </a:lnTo>
                    <a:lnTo>
                      <a:pt x="18796" y="2983230"/>
                    </a:lnTo>
                    <a:cubicBezTo>
                      <a:pt x="18796" y="3026029"/>
                      <a:pt x="53594" y="3060700"/>
                      <a:pt x="96520" y="3060700"/>
                    </a:cubicBezTo>
                    <a:lnTo>
                      <a:pt x="5068824" y="3060700"/>
                    </a:lnTo>
                    <a:cubicBezTo>
                      <a:pt x="5111750" y="3060700"/>
                      <a:pt x="5146548" y="3026029"/>
                      <a:pt x="5146548" y="2983230"/>
                    </a:cubicBezTo>
                    <a:lnTo>
                      <a:pt x="5146548" y="96266"/>
                    </a:lnTo>
                    <a:cubicBezTo>
                      <a:pt x="5146548" y="53467"/>
                      <a:pt x="5111750" y="18796"/>
                      <a:pt x="5068824" y="18796"/>
                    </a:cubicBezTo>
                    <a:lnTo>
                      <a:pt x="96393" y="18796"/>
                    </a:lnTo>
                    <a:lnTo>
                      <a:pt x="96393" y="9398"/>
                    </a:lnTo>
                    <a:lnTo>
                      <a:pt x="96393" y="18796"/>
                    </a:lnTo>
                    <a:cubicBezTo>
                      <a:pt x="53467" y="18796"/>
                      <a:pt x="18669" y="53467"/>
                      <a:pt x="18669" y="96266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17" name="Group 17"/>
            <p:cNvGrpSpPr/>
            <p:nvPr/>
          </p:nvGrpSpPr>
          <p:grpSpPr>
            <a:xfrm>
              <a:off x="0" y="282960"/>
              <a:ext cx="5508000" cy="462960"/>
              <a:chOff x="0" y="0"/>
              <a:chExt cx="5508000" cy="462960"/>
            </a:xfrm>
          </p:grpSpPr>
          <p:sp>
            <p:nvSpPr>
              <p:cNvPr id="18" name="Freeform 18"/>
              <p:cNvSpPr/>
              <p:nvPr/>
            </p:nvSpPr>
            <p:spPr>
              <a:xfrm>
                <a:off x="0" y="0"/>
                <a:ext cx="5508000" cy="462960"/>
              </a:xfrm>
              <a:custGeom>
                <a:avLst/>
                <a:gdLst/>
                <a:ahLst/>
                <a:cxnLst/>
                <a:rect l="l" t="t" r="r" b="b"/>
                <a:pathLst>
                  <a:path w="5508000" h="462960">
                    <a:moveTo>
                      <a:pt x="0" y="0"/>
                    </a:moveTo>
                    <a:lnTo>
                      <a:pt x="5508000" y="0"/>
                    </a:lnTo>
                    <a:lnTo>
                      <a:pt x="5508000" y="462960"/>
                    </a:lnTo>
                    <a:lnTo>
                      <a:pt x="0" y="46296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9" name="TextBox 19"/>
              <p:cNvSpPr txBox="1"/>
              <p:nvPr/>
            </p:nvSpPr>
            <p:spPr>
              <a:xfrm>
                <a:off x="0" y="-19050"/>
                <a:ext cx="5508000" cy="48201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3A3A3A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Deep Learning AI</a:t>
                </a:r>
              </a:p>
            </p:txBody>
          </p:sp>
        </p:grpSp>
        <p:sp>
          <p:nvSpPr>
            <p:cNvPr id="20" name="Freeform 20"/>
            <p:cNvSpPr/>
            <p:nvPr/>
          </p:nvSpPr>
          <p:spPr>
            <a:xfrm>
              <a:off x="1713806" y="959040"/>
              <a:ext cx="1975268" cy="1691640"/>
            </a:xfrm>
            <a:custGeom>
              <a:avLst/>
              <a:gdLst/>
              <a:ahLst/>
              <a:cxnLst/>
              <a:rect l="l" t="t" r="r" b="b"/>
              <a:pathLst>
                <a:path w="1975268" h="1691640">
                  <a:moveTo>
                    <a:pt x="0" y="0"/>
                  </a:moveTo>
                  <a:lnTo>
                    <a:pt x="1975268" y="0"/>
                  </a:lnTo>
                  <a:lnTo>
                    <a:pt x="1975268" y="1691640"/>
                  </a:lnTo>
                  <a:lnTo>
                    <a:pt x="0" y="169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</p:sp>
      </p:grpSp>
      <p:grpSp>
        <p:nvGrpSpPr>
          <p:cNvPr id="21" name="Group 21"/>
          <p:cNvGrpSpPr/>
          <p:nvPr/>
        </p:nvGrpSpPr>
        <p:grpSpPr>
          <a:xfrm>
            <a:off x="7002518" y="5221564"/>
            <a:ext cx="3873960" cy="2311740"/>
            <a:chOff x="0" y="0"/>
            <a:chExt cx="5165280" cy="3082320"/>
          </a:xfrm>
        </p:grpSpPr>
        <p:grpSp>
          <p:nvGrpSpPr>
            <p:cNvPr id="22" name="Group 22"/>
            <p:cNvGrpSpPr/>
            <p:nvPr/>
          </p:nvGrpSpPr>
          <p:grpSpPr>
            <a:xfrm>
              <a:off x="0" y="0"/>
              <a:ext cx="5165280" cy="3082320"/>
              <a:chOff x="0" y="0"/>
              <a:chExt cx="5165280" cy="3082320"/>
            </a:xfrm>
          </p:grpSpPr>
          <p:sp>
            <p:nvSpPr>
              <p:cNvPr id="23" name="Freeform 23"/>
              <p:cNvSpPr/>
              <p:nvPr/>
            </p:nvSpPr>
            <p:spPr>
              <a:xfrm>
                <a:off x="0" y="0"/>
                <a:ext cx="5165344" cy="3082290"/>
              </a:xfrm>
              <a:custGeom>
                <a:avLst/>
                <a:gdLst/>
                <a:ahLst/>
                <a:cxnLst/>
                <a:rect l="l" t="t" r="r" b="b"/>
                <a:pathLst>
                  <a:path w="5165344" h="3082290">
                    <a:moveTo>
                      <a:pt x="0" y="96266"/>
                    </a:moveTo>
                    <a:cubicBezTo>
                      <a:pt x="0" y="43053"/>
                      <a:pt x="43180" y="0"/>
                      <a:pt x="96520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164" y="0"/>
                      <a:pt x="5165344" y="43053"/>
                      <a:pt x="5165344" y="96266"/>
                    </a:cubicBezTo>
                    <a:lnTo>
                      <a:pt x="5155946" y="96266"/>
                    </a:lnTo>
                    <a:lnTo>
                      <a:pt x="5165344" y="96266"/>
                    </a:lnTo>
                    <a:lnTo>
                      <a:pt x="5165344" y="2986024"/>
                    </a:lnTo>
                    <a:lnTo>
                      <a:pt x="5155946" y="2986024"/>
                    </a:lnTo>
                    <a:lnTo>
                      <a:pt x="5165344" y="2986024"/>
                    </a:lnTo>
                    <a:cubicBezTo>
                      <a:pt x="5165344" y="3039237"/>
                      <a:pt x="5122164" y="3082290"/>
                      <a:pt x="5068824" y="3082290"/>
                    </a:cubicBezTo>
                    <a:lnTo>
                      <a:pt x="5068824" y="3072892"/>
                    </a:lnTo>
                    <a:lnTo>
                      <a:pt x="5068824" y="3082290"/>
                    </a:lnTo>
                    <a:lnTo>
                      <a:pt x="96520" y="3082290"/>
                    </a:lnTo>
                    <a:lnTo>
                      <a:pt x="96520" y="3072892"/>
                    </a:lnTo>
                    <a:lnTo>
                      <a:pt x="96520" y="3082290"/>
                    </a:lnTo>
                    <a:cubicBezTo>
                      <a:pt x="43180" y="3082290"/>
                      <a:pt x="0" y="3039237"/>
                      <a:pt x="0" y="2986024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6024"/>
                    </a:lnTo>
                    <a:lnTo>
                      <a:pt x="9398" y="2986024"/>
                    </a:lnTo>
                    <a:lnTo>
                      <a:pt x="18796" y="2986024"/>
                    </a:lnTo>
                    <a:cubicBezTo>
                      <a:pt x="18796" y="3028823"/>
                      <a:pt x="53594" y="3063621"/>
                      <a:pt x="96647" y="3063621"/>
                    </a:cubicBezTo>
                    <a:lnTo>
                      <a:pt x="5068824" y="3063621"/>
                    </a:lnTo>
                    <a:cubicBezTo>
                      <a:pt x="5111750" y="3063621"/>
                      <a:pt x="5146675" y="3028823"/>
                      <a:pt x="5146675" y="2986024"/>
                    </a:cubicBezTo>
                    <a:lnTo>
                      <a:pt x="5146675" y="96266"/>
                    </a:lnTo>
                    <a:cubicBezTo>
                      <a:pt x="5146675" y="53467"/>
                      <a:pt x="5111877" y="18669"/>
                      <a:pt x="5068824" y="18669"/>
                    </a:cubicBezTo>
                    <a:lnTo>
                      <a:pt x="96520" y="18669"/>
                    </a:lnTo>
                    <a:lnTo>
                      <a:pt x="96520" y="9398"/>
                    </a:lnTo>
                    <a:lnTo>
                      <a:pt x="96520" y="18796"/>
                    </a:lnTo>
                    <a:cubicBezTo>
                      <a:pt x="53594" y="18796"/>
                      <a:pt x="18669" y="53594"/>
                      <a:pt x="18669" y="96393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24" name="Group 24"/>
            <p:cNvGrpSpPr/>
            <p:nvPr/>
          </p:nvGrpSpPr>
          <p:grpSpPr>
            <a:xfrm>
              <a:off x="0" y="317880"/>
              <a:ext cx="5108400" cy="919440"/>
              <a:chOff x="0" y="0"/>
              <a:chExt cx="5108400" cy="919440"/>
            </a:xfrm>
          </p:grpSpPr>
          <p:sp>
            <p:nvSpPr>
              <p:cNvPr id="25" name="Freeform 25"/>
              <p:cNvSpPr/>
              <p:nvPr/>
            </p:nvSpPr>
            <p:spPr>
              <a:xfrm>
                <a:off x="0" y="0"/>
                <a:ext cx="5108400" cy="919440"/>
              </a:xfrm>
              <a:custGeom>
                <a:avLst/>
                <a:gdLst/>
                <a:ahLst/>
                <a:cxnLst/>
                <a:rect l="l" t="t" r="r" b="b"/>
                <a:pathLst>
                  <a:path w="5108400" h="919440">
                    <a:moveTo>
                      <a:pt x="0" y="0"/>
                    </a:moveTo>
                    <a:lnTo>
                      <a:pt x="5108400" y="0"/>
                    </a:lnTo>
                    <a:lnTo>
                      <a:pt x="5108400" y="919440"/>
                    </a:lnTo>
                    <a:lnTo>
                      <a:pt x="0" y="91944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26" name="TextBox 26"/>
              <p:cNvSpPr txBox="1"/>
              <p:nvPr/>
            </p:nvSpPr>
            <p:spPr>
              <a:xfrm>
                <a:off x="0" y="-19050"/>
                <a:ext cx="5108400" cy="93849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Nền tảng điện toán đám mây tích hợp</a:t>
                </a:r>
              </a:p>
            </p:txBody>
          </p:sp>
        </p:grpSp>
        <p:sp>
          <p:nvSpPr>
            <p:cNvPr id="27" name="Freeform 27"/>
            <p:cNvSpPr/>
            <p:nvPr/>
          </p:nvSpPr>
          <p:spPr>
            <a:xfrm>
              <a:off x="1621170" y="1224244"/>
              <a:ext cx="1922940" cy="1093436"/>
            </a:xfrm>
            <a:custGeom>
              <a:avLst/>
              <a:gdLst/>
              <a:ahLst/>
              <a:cxnLst/>
              <a:rect l="l" t="t" r="r" b="b"/>
              <a:pathLst>
                <a:path w="1922940" h="1093436">
                  <a:moveTo>
                    <a:pt x="0" y="0"/>
                  </a:moveTo>
                  <a:lnTo>
                    <a:pt x="1922940" y="0"/>
                  </a:lnTo>
                  <a:lnTo>
                    <a:pt x="1922940" y="1093436"/>
                  </a:lnTo>
                  <a:lnTo>
                    <a:pt x="0" y="10934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</p:grpSp>
      <p:grpSp>
        <p:nvGrpSpPr>
          <p:cNvPr id="28" name="Group 28"/>
          <p:cNvGrpSpPr/>
          <p:nvPr/>
        </p:nvGrpSpPr>
        <p:grpSpPr>
          <a:xfrm>
            <a:off x="1717200" y="4867560"/>
            <a:ext cx="3588300" cy="1990440"/>
            <a:chOff x="0" y="0"/>
            <a:chExt cx="4784400" cy="2653920"/>
          </a:xfrm>
        </p:grpSpPr>
        <p:sp>
          <p:nvSpPr>
            <p:cNvPr id="29" name="Freeform 29"/>
            <p:cNvSpPr/>
            <p:nvPr/>
          </p:nvSpPr>
          <p:spPr>
            <a:xfrm>
              <a:off x="0" y="0"/>
              <a:ext cx="4784344" cy="2653919"/>
            </a:xfrm>
            <a:custGeom>
              <a:avLst/>
              <a:gdLst/>
              <a:ahLst/>
              <a:cxnLst/>
              <a:rect l="l" t="t" r="r" b="b"/>
              <a:pathLst>
                <a:path w="4784344" h="2653919">
                  <a:moveTo>
                    <a:pt x="0" y="84201"/>
                  </a:moveTo>
                  <a:cubicBezTo>
                    <a:pt x="0" y="37592"/>
                    <a:pt x="37846" y="0"/>
                    <a:pt x="84328" y="0"/>
                  </a:cubicBezTo>
                  <a:lnTo>
                    <a:pt x="4700016" y="0"/>
                  </a:lnTo>
                  <a:lnTo>
                    <a:pt x="4700016" y="9398"/>
                  </a:lnTo>
                  <a:lnTo>
                    <a:pt x="4700016" y="0"/>
                  </a:lnTo>
                  <a:cubicBezTo>
                    <a:pt x="4746625" y="0"/>
                    <a:pt x="4784344" y="37592"/>
                    <a:pt x="4784344" y="84201"/>
                  </a:cubicBezTo>
                  <a:lnTo>
                    <a:pt x="4774946" y="84201"/>
                  </a:lnTo>
                  <a:lnTo>
                    <a:pt x="4784344" y="84201"/>
                  </a:lnTo>
                  <a:lnTo>
                    <a:pt x="4784344" y="2569718"/>
                  </a:lnTo>
                  <a:lnTo>
                    <a:pt x="4774946" y="2569718"/>
                  </a:lnTo>
                  <a:lnTo>
                    <a:pt x="4784344" y="2569718"/>
                  </a:lnTo>
                  <a:cubicBezTo>
                    <a:pt x="4784344" y="2616200"/>
                    <a:pt x="4746498" y="2653919"/>
                    <a:pt x="4700016" y="2653919"/>
                  </a:cubicBezTo>
                  <a:lnTo>
                    <a:pt x="4700016" y="2644521"/>
                  </a:lnTo>
                  <a:lnTo>
                    <a:pt x="4700016" y="2653919"/>
                  </a:lnTo>
                  <a:lnTo>
                    <a:pt x="84328" y="2653919"/>
                  </a:lnTo>
                  <a:lnTo>
                    <a:pt x="84328" y="2644521"/>
                  </a:lnTo>
                  <a:lnTo>
                    <a:pt x="84328" y="2653919"/>
                  </a:lnTo>
                  <a:cubicBezTo>
                    <a:pt x="37719" y="2653919"/>
                    <a:pt x="0" y="2616327"/>
                    <a:pt x="0" y="2569718"/>
                  </a:cubicBezTo>
                  <a:lnTo>
                    <a:pt x="0" y="84201"/>
                  </a:lnTo>
                  <a:lnTo>
                    <a:pt x="9398" y="84201"/>
                  </a:lnTo>
                  <a:lnTo>
                    <a:pt x="0" y="84201"/>
                  </a:lnTo>
                  <a:moveTo>
                    <a:pt x="18669" y="84201"/>
                  </a:moveTo>
                  <a:lnTo>
                    <a:pt x="18669" y="2569718"/>
                  </a:lnTo>
                  <a:lnTo>
                    <a:pt x="9398" y="2569718"/>
                  </a:lnTo>
                  <a:lnTo>
                    <a:pt x="18796" y="2569718"/>
                  </a:lnTo>
                  <a:cubicBezTo>
                    <a:pt x="18796" y="2605786"/>
                    <a:pt x="48133" y="2635123"/>
                    <a:pt x="84455" y="2635123"/>
                  </a:cubicBezTo>
                  <a:lnTo>
                    <a:pt x="4700016" y="2635123"/>
                  </a:lnTo>
                  <a:cubicBezTo>
                    <a:pt x="4736338" y="2635123"/>
                    <a:pt x="4765675" y="2605786"/>
                    <a:pt x="4765675" y="2569718"/>
                  </a:cubicBezTo>
                  <a:lnTo>
                    <a:pt x="4765675" y="84201"/>
                  </a:lnTo>
                  <a:cubicBezTo>
                    <a:pt x="4765675" y="48133"/>
                    <a:pt x="4736338" y="18796"/>
                    <a:pt x="4700016" y="18796"/>
                  </a:cubicBezTo>
                  <a:lnTo>
                    <a:pt x="84328" y="18796"/>
                  </a:lnTo>
                  <a:lnTo>
                    <a:pt x="84328" y="9398"/>
                  </a:lnTo>
                  <a:lnTo>
                    <a:pt x="84328" y="18796"/>
                  </a:lnTo>
                  <a:cubicBezTo>
                    <a:pt x="48006" y="18796"/>
                    <a:pt x="18669" y="48133"/>
                    <a:pt x="18669" y="84201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grpSp>
        <p:nvGrpSpPr>
          <p:cNvPr id="30" name="Group 30"/>
          <p:cNvGrpSpPr/>
          <p:nvPr/>
        </p:nvGrpSpPr>
        <p:grpSpPr>
          <a:xfrm>
            <a:off x="1500120" y="5105160"/>
            <a:ext cx="4065120" cy="369900"/>
            <a:chOff x="0" y="0"/>
            <a:chExt cx="5420160" cy="493200"/>
          </a:xfrm>
        </p:grpSpPr>
        <p:sp>
          <p:nvSpPr>
            <p:cNvPr id="31" name="Freeform 31"/>
            <p:cNvSpPr/>
            <p:nvPr/>
          </p:nvSpPr>
          <p:spPr>
            <a:xfrm>
              <a:off x="0" y="0"/>
              <a:ext cx="5420160" cy="493200"/>
            </a:xfrm>
            <a:custGeom>
              <a:avLst/>
              <a:gdLst/>
              <a:ahLst/>
              <a:cxnLst/>
              <a:rect l="l" t="t" r="r" b="b"/>
              <a:pathLst>
                <a:path w="5420160" h="493200">
                  <a:moveTo>
                    <a:pt x="0" y="0"/>
                  </a:moveTo>
                  <a:lnTo>
                    <a:pt x="5420160" y="0"/>
                  </a:lnTo>
                  <a:lnTo>
                    <a:pt x="5420160" y="493200"/>
                  </a:lnTo>
                  <a:lnTo>
                    <a:pt x="0" y="493200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32" name="TextBox 32"/>
            <p:cNvSpPr txBox="1"/>
            <p:nvPr/>
          </p:nvSpPr>
          <p:spPr>
            <a:xfrm>
              <a:off x="0" y="-19050"/>
              <a:ext cx="5420160" cy="512250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ctr">
                <a:lnSpc>
                  <a:spcPts val="1800"/>
                </a:lnSpc>
              </a:pPr>
              <a:r>
                <a:rPr lang="en-US" sz="1500" spc="-1">
                  <a:solidFill>
                    <a:srgbClr val="000000"/>
                  </a:solidFill>
                  <a:latin typeface="Arimo"/>
                  <a:ea typeface="Arimo"/>
                  <a:cs typeface="Arimo"/>
                  <a:sym typeface="Arimo"/>
                </a:rPr>
                <a:t>Công nghệ MPF (Hợp nhất đa điểm ảnh)</a:t>
              </a:r>
            </a:p>
          </p:txBody>
        </p:sp>
      </p:grpSp>
      <p:sp>
        <p:nvSpPr>
          <p:cNvPr id="33" name="Freeform 33"/>
          <p:cNvSpPr/>
          <p:nvPr/>
        </p:nvSpPr>
        <p:spPr>
          <a:xfrm>
            <a:off x="1734621" y="5722470"/>
            <a:ext cx="3542259" cy="811954"/>
          </a:xfrm>
          <a:custGeom>
            <a:avLst/>
            <a:gdLst/>
            <a:ahLst/>
            <a:cxnLst/>
            <a:rect l="l" t="t" r="r" b="b"/>
            <a:pathLst>
              <a:path w="3542259" h="811954">
                <a:moveTo>
                  <a:pt x="0" y="0"/>
                </a:moveTo>
                <a:lnTo>
                  <a:pt x="3542259" y="0"/>
                </a:lnTo>
                <a:lnTo>
                  <a:pt x="3542259" y="811954"/>
                </a:lnTo>
                <a:lnTo>
                  <a:pt x="0" y="811954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</p:sp>
      <p:grpSp>
        <p:nvGrpSpPr>
          <p:cNvPr id="34" name="Group 34"/>
          <p:cNvGrpSpPr/>
          <p:nvPr/>
        </p:nvGrpSpPr>
        <p:grpSpPr>
          <a:xfrm>
            <a:off x="1688580" y="7048620"/>
            <a:ext cx="3588300" cy="2311740"/>
            <a:chOff x="0" y="0"/>
            <a:chExt cx="4784400" cy="3082320"/>
          </a:xfrm>
        </p:grpSpPr>
        <p:grpSp>
          <p:nvGrpSpPr>
            <p:cNvPr id="35" name="Group 35"/>
            <p:cNvGrpSpPr/>
            <p:nvPr/>
          </p:nvGrpSpPr>
          <p:grpSpPr>
            <a:xfrm>
              <a:off x="0" y="0"/>
              <a:ext cx="4784400" cy="3082320"/>
              <a:chOff x="0" y="0"/>
              <a:chExt cx="4784400" cy="3082320"/>
            </a:xfrm>
          </p:grpSpPr>
          <p:sp>
            <p:nvSpPr>
              <p:cNvPr id="36" name="Freeform 36"/>
              <p:cNvSpPr/>
              <p:nvPr/>
            </p:nvSpPr>
            <p:spPr>
              <a:xfrm>
                <a:off x="0" y="0"/>
                <a:ext cx="4784471" cy="3082290"/>
              </a:xfrm>
              <a:custGeom>
                <a:avLst/>
                <a:gdLst/>
                <a:ahLst/>
                <a:cxnLst/>
                <a:rect l="l" t="t" r="r" b="b"/>
                <a:pathLst>
                  <a:path w="4784471" h="3082290">
                    <a:moveTo>
                      <a:pt x="0" y="96266"/>
                    </a:moveTo>
                    <a:cubicBezTo>
                      <a:pt x="0" y="43053"/>
                      <a:pt x="43180" y="0"/>
                      <a:pt x="96520" y="0"/>
                    </a:cubicBezTo>
                    <a:lnTo>
                      <a:pt x="4687951" y="0"/>
                    </a:lnTo>
                    <a:lnTo>
                      <a:pt x="4687951" y="9398"/>
                    </a:lnTo>
                    <a:lnTo>
                      <a:pt x="4687951" y="0"/>
                    </a:lnTo>
                    <a:cubicBezTo>
                      <a:pt x="4741164" y="0"/>
                      <a:pt x="4784471" y="43053"/>
                      <a:pt x="4784471" y="96266"/>
                    </a:cubicBezTo>
                    <a:lnTo>
                      <a:pt x="4775073" y="96266"/>
                    </a:lnTo>
                    <a:lnTo>
                      <a:pt x="4784471" y="96266"/>
                    </a:lnTo>
                    <a:lnTo>
                      <a:pt x="4784471" y="2986024"/>
                    </a:lnTo>
                    <a:lnTo>
                      <a:pt x="4775073" y="2986024"/>
                    </a:lnTo>
                    <a:lnTo>
                      <a:pt x="4784471" y="2986024"/>
                    </a:lnTo>
                    <a:cubicBezTo>
                      <a:pt x="4784471" y="3039237"/>
                      <a:pt x="4741291" y="3082290"/>
                      <a:pt x="4687951" y="3082290"/>
                    </a:cubicBezTo>
                    <a:lnTo>
                      <a:pt x="4687951" y="3072892"/>
                    </a:lnTo>
                    <a:lnTo>
                      <a:pt x="4687951" y="3082290"/>
                    </a:lnTo>
                    <a:lnTo>
                      <a:pt x="96520" y="3082290"/>
                    </a:lnTo>
                    <a:lnTo>
                      <a:pt x="96520" y="3072892"/>
                    </a:lnTo>
                    <a:lnTo>
                      <a:pt x="96520" y="3082290"/>
                    </a:lnTo>
                    <a:cubicBezTo>
                      <a:pt x="43307" y="3082290"/>
                      <a:pt x="0" y="3039237"/>
                      <a:pt x="0" y="2986024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6024"/>
                    </a:lnTo>
                    <a:lnTo>
                      <a:pt x="9398" y="2986024"/>
                    </a:lnTo>
                    <a:lnTo>
                      <a:pt x="18796" y="2986024"/>
                    </a:lnTo>
                    <a:cubicBezTo>
                      <a:pt x="18796" y="3028823"/>
                      <a:pt x="53594" y="3063621"/>
                      <a:pt x="96520" y="3063621"/>
                    </a:cubicBezTo>
                    <a:lnTo>
                      <a:pt x="4687951" y="3063621"/>
                    </a:lnTo>
                    <a:cubicBezTo>
                      <a:pt x="4730877" y="3063621"/>
                      <a:pt x="4765675" y="3028823"/>
                      <a:pt x="4765675" y="2986024"/>
                    </a:cubicBezTo>
                    <a:lnTo>
                      <a:pt x="4765675" y="96266"/>
                    </a:lnTo>
                    <a:cubicBezTo>
                      <a:pt x="4765675" y="53467"/>
                      <a:pt x="4730877" y="18669"/>
                      <a:pt x="4687951" y="18669"/>
                    </a:cubicBezTo>
                    <a:lnTo>
                      <a:pt x="96520" y="18669"/>
                    </a:lnTo>
                    <a:lnTo>
                      <a:pt x="96520" y="9398"/>
                    </a:lnTo>
                    <a:lnTo>
                      <a:pt x="96520" y="18796"/>
                    </a:lnTo>
                    <a:cubicBezTo>
                      <a:pt x="53594" y="18796"/>
                      <a:pt x="18796" y="53594"/>
                      <a:pt x="18796" y="96393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37" name="Group 37"/>
            <p:cNvGrpSpPr/>
            <p:nvPr/>
          </p:nvGrpSpPr>
          <p:grpSpPr>
            <a:xfrm>
              <a:off x="0" y="266400"/>
              <a:ext cx="4775040" cy="493200"/>
              <a:chOff x="0" y="0"/>
              <a:chExt cx="4775040" cy="493200"/>
            </a:xfrm>
          </p:grpSpPr>
          <p:sp>
            <p:nvSpPr>
              <p:cNvPr id="38" name="Freeform 38"/>
              <p:cNvSpPr/>
              <p:nvPr/>
            </p:nvSpPr>
            <p:spPr>
              <a:xfrm>
                <a:off x="0" y="0"/>
                <a:ext cx="4775040" cy="493200"/>
              </a:xfrm>
              <a:custGeom>
                <a:avLst/>
                <a:gdLst/>
                <a:ahLst/>
                <a:cxnLst/>
                <a:rect l="l" t="t" r="r" b="b"/>
                <a:pathLst>
                  <a:path w="4775040" h="493200">
                    <a:moveTo>
                      <a:pt x="0" y="0"/>
                    </a:moveTo>
                    <a:lnTo>
                      <a:pt x="4775040" y="0"/>
                    </a:lnTo>
                    <a:lnTo>
                      <a:pt x="4775040" y="493200"/>
                    </a:lnTo>
                    <a:lnTo>
                      <a:pt x="0" y="49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39" name="TextBox 39"/>
              <p:cNvSpPr txBox="1"/>
              <p:nvPr/>
            </p:nvSpPr>
            <p:spPr>
              <a:xfrm>
                <a:off x="0" y="-19050"/>
                <a:ext cx="4775040" cy="512250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800"/>
                  </a:lnSpc>
                </a:pPr>
                <a:r>
                  <a:rPr lang="en-US" sz="1500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Camera mắt diều hâu 3.0</a:t>
                </a:r>
              </a:p>
            </p:txBody>
          </p:sp>
        </p:grpSp>
        <p:sp>
          <p:nvSpPr>
            <p:cNvPr id="40" name="Freeform 40"/>
            <p:cNvSpPr/>
            <p:nvPr/>
          </p:nvSpPr>
          <p:spPr>
            <a:xfrm>
              <a:off x="1320032" y="1013600"/>
              <a:ext cx="2600030" cy="1653790"/>
            </a:xfrm>
            <a:custGeom>
              <a:avLst/>
              <a:gdLst/>
              <a:ahLst/>
              <a:cxnLst/>
              <a:rect l="l" t="t" r="r" b="b"/>
              <a:pathLst>
                <a:path w="2600030" h="1653790">
                  <a:moveTo>
                    <a:pt x="0" y="0"/>
                  </a:moveTo>
                  <a:lnTo>
                    <a:pt x="2600031" y="0"/>
                  </a:lnTo>
                  <a:lnTo>
                    <a:pt x="2600031" y="1653790"/>
                  </a:lnTo>
                  <a:lnTo>
                    <a:pt x="0" y="16537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7"/>
              <a:stretch>
                <a:fillRect/>
              </a:stretch>
            </a:blipFill>
          </p:spPr>
        </p:sp>
      </p:grpSp>
      <p:sp>
        <p:nvSpPr>
          <p:cNvPr id="50" name="Freeform 50"/>
          <p:cNvSpPr/>
          <p:nvPr/>
        </p:nvSpPr>
        <p:spPr>
          <a:xfrm>
            <a:off x="780396" y="2954880"/>
            <a:ext cx="907135" cy="907135"/>
          </a:xfrm>
          <a:custGeom>
            <a:avLst/>
            <a:gdLst/>
            <a:ahLst/>
            <a:cxnLst/>
            <a:rect l="l" t="t" r="r" b="b"/>
            <a:pathLst>
              <a:path w="907135" h="907135">
                <a:moveTo>
                  <a:pt x="0" y="0"/>
                </a:moveTo>
                <a:lnTo>
                  <a:pt x="907135" y="0"/>
                </a:lnTo>
                <a:lnTo>
                  <a:pt x="907135" y="907135"/>
                </a:lnTo>
                <a:lnTo>
                  <a:pt x="0" y="907135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</p:sp>
      <p:sp>
        <p:nvSpPr>
          <p:cNvPr id="51" name="Freeform 51"/>
          <p:cNvSpPr/>
          <p:nvPr/>
        </p:nvSpPr>
        <p:spPr>
          <a:xfrm>
            <a:off x="780396" y="5464391"/>
            <a:ext cx="913044" cy="913044"/>
          </a:xfrm>
          <a:custGeom>
            <a:avLst/>
            <a:gdLst/>
            <a:ahLst/>
            <a:cxnLst/>
            <a:rect l="l" t="t" r="r" b="b"/>
            <a:pathLst>
              <a:path w="913044" h="913044">
                <a:moveTo>
                  <a:pt x="0" y="0"/>
                </a:moveTo>
                <a:lnTo>
                  <a:pt x="913044" y="0"/>
                </a:lnTo>
                <a:lnTo>
                  <a:pt x="913044" y="913043"/>
                </a:lnTo>
                <a:lnTo>
                  <a:pt x="0" y="913043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</p:sp>
      <p:sp>
        <p:nvSpPr>
          <p:cNvPr id="52" name="Freeform 52"/>
          <p:cNvSpPr/>
          <p:nvPr/>
        </p:nvSpPr>
        <p:spPr>
          <a:xfrm>
            <a:off x="837014" y="7935437"/>
            <a:ext cx="856426" cy="856426"/>
          </a:xfrm>
          <a:custGeom>
            <a:avLst/>
            <a:gdLst/>
            <a:ahLst/>
            <a:cxnLst/>
            <a:rect l="l" t="t" r="r" b="b"/>
            <a:pathLst>
              <a:path w="856426" h="856426">
                <a:moveTo>
                  <a:pt x="0" y="0"/>
                </a:moveTo>
                <a:lnTo>
                  <a:pt x="856426" y="0"/>
                </a:lnTo>
                <a:lnTo>
                  <a:pt x="856426" y="856426"/>
                </a:lnTo>
                <a:lnTo>
                  <a:pt x="0" y="856426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54" name="Freeform 54"/>
          <p:cNvSpPr/>
          <p:nvPr/>
        </p:nvSpPr>
        <p:spPr>
          <a:xfrm>
            <a:off x="6172678" y="6077800"/>
            <a:ext cx="829839" cy="829839"/>
          </a:xfrm>
          <a:custGeom>
            <a:avLst/>
            <a:gdLst/>
            <a:ahLst/>
            <a:cxnLst/>
            <a:rect l="l" t="t" r="r" b="b"/>
            <a:pathLst>
              <a:path w="829839" h="829839">
                <a:moveTo>
                  <a:pt x="0" y="0"/>
                </a:moveTo>
                <a:lnTo>
                  <a:pt x="829840" y="0"/>
                </a:lnTo>
                <a:lnTo>
                  <a:pt x="829840" y="829839"/>
                </a:lnTo>
                <a:lnTo>
                  <a:pt x="0" y="82983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55" name="Freeform 55"/>
          <p:cNvSpPr/>
          <p:nvPr/>
        </p:nvSpPr>
        <p:spPr>
          <a:xfrm>
            <a:off x="6124338" y="2954880"/>
            <a:ext cx="878179" cy="878179"/>
          </a:xfrm>
          <a:custGeom>
            <a:avLst/>
            <a:gdLst/>
            <a:ahLst/>
            <a:cxnLst/>
            <a:rect l="l" t="t" r="r" b="b"/>
            <a:pathLst>
              <a:path w="878179" h="878179">
                <a:moveTo>
                  <a:pt x="0" y="0"/>
                </a:moveTo>
                <a:lnTo>
                  <a:pt x="878180" y="0"/>
                </a:lnTo>
                <a:lnTo>
                  <a:pt x="878180" y="878179"/>
                </a:lnTo>
                <a:lnTo>
                  <a:pt x="0" y="878179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p:transition>
    <p:cover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Nền tảng PLOV 2.0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8" name="Group 8"/>
          <p:cNvGrpSpPr/>
          <p:nvPr/>
        </p:nvGrpSpPr>
        <p:grpSpPr>
          <a:xfrm>
            <a:off x="7653192" y="2331589"/>
            <a:ext cx="3588300" cy="2309580"/>
            <a:chOff x="0" y="0"/>
            <a:chExt cx="4784400" cy="3079440"/>
          </a:xfrm>
        </p:grpSpPr>
        <p:sp>
          <p:nvSpPr>
            <p:cNvPr id="9" name="Freeform 9"/>
            <p:cNvSpPr/>
            <p:nvPr/>
          </p:nvSpPr>
          <p:spPr>
            <a:xfrm>
              <a:off x="0" y="0"/>
              <a:ext cx="4784344" cy="3079496"/>
            </a:xfrm>
            <a:custGeom>
              <a:avLst/>
              <a:gdLst/>
              <a:ahLst/>
              <a:cxnLst/>
              <a:rect l="l" t="t" r="r" b="b"/>
              <a:pathLst>
                <a:path w="4784344" h="3079496">
                  <a:moveTo>
                    <a:pt x="0" y="96266"/>
                  </a:moveTo>
                  <a:cubicBezTo>
                    <a:pt x="0" y="43053"/>
                    <a:pt x="43180" y="0"/>
                    <a:pt x="96393" y="0"/>
                  </a:cubicBezTo>
                  <a:lnTo>
                    <a:pt x="4687951" y="0"/>
                  </a:lnTo>
                  <a:lnTo>
                    <a:pt x="4687951" y="9398"/>
                  </a:lnTo>
                  <a:lnTo>
                    <a:pt x="4687951" y="0"/>
                  </a:lnTo>
                  <a:cubicBezTo>
                    <a:pt x="4741164" y="0"/>
                    <a:pt x="4784344" y="43053"/>
                    <a:pt x="4784344" y="96266"/>
                  </a:cubicBezTo>
                  <a:lnTo>
                    <a:pt x="4774946" y="96266"/>
                  </a:lnTo>
                  <a:lnTo>
                    <a:pt x="4784344" y="96266"/>
                  </a:lnTo>
                  <a:lnTo>
                    <a:pt x="4784344" y="2983230"/>
                  </a:lnTo>
                  <a:lnTo>
                    <a:pt x="4774946" y="2983230"/>
                  </a:lnTo>
                  <a:lnTo>
                    <a:pt x="4784344" y="2983230"/>
                  </a:lnTo>
                  <a:cubicBezTo>
                    <a:pt x="4784344" y="3036443"/>
                    <a:pt x="4741164" y="3079496"/>
                    <a:pt x="4687951" y="3079496"/>
                  </a:cubicBezTo>
                  <a:lnTo>
                    <a:pt x="4687951" y="3070098"/>
                  </a:lnTo>
                  <a:lnTo>
                    <a:pt x="4687951" y="3079496"/>
                  </a:lnTo>
                  <a:lnTo>
                    <a:pt x="96393" y="3079496"/>
                  </a:lnTo>
                  <a:lnTo>
                    <a:pt x="96393" y="3070098"/>
                  </a:lnTo>
                  <a:lnTo>
                    <a:pt x="96393" y="3079496"/>
                  </a:lnTo>
                  <a:cubicBezTo>
                    <a:pt x="43180" y="3079496"/>
                    <a:pt x="0" y="3036316"/>
                    <a:pt x="0" y="2983230"/>
                  </a:cubicBezTo>
                  <a:lnTo>
                    <a:pt x="0" y="96266"/>
                  </a:lnTo>
                  <a:lnTo>
                    <a:pt x="9398" y="96266"/>
                  </a:lnTo>
                  <a:lnTo>
                    <a:pt x="0" y="96266"/>
                  </a:lnTo>
                  <a:moveTo>
                    <a:pt x="18669" y="96266"/>
                  </a:moveTo>
                  <a:lnTo>
                    <a:pt x="18669" y="2983230"/>
                  </a:lnTo>
                  <a:lnTo>
                    <a:pt x="9398" y="2983230"/>
                  </a:lnTo>
                  <a:lnTo>
                    <a:pt x="18796" y="2983230"/>
                  </a:lnTo>
                  <a:cubicBezTo>
                    <a:pt x="18796" y="3026029"/>
                    <a:pt x="53594" y="3060700"/>
                    <a:pt x="96520" y="3060700"/>
                  </a:cubicBezTo>
                  <a:lnTo>
                    <a:pt x="4687951" y="3060700"/>
                  </a:lnTo>
                  <a:cubicBezTo>
                    <a:pt x="4730877" y="3060700"/>
                    <a:pt x="4765675" y="3026029"/>
                    <a:pt x="4765675" y="2983230"/>
                  </a:cubicBezTo>
                  <a:lnTo>
                    <a:pt x="4765675" y="96266"/>
                  </a:lnTo>
                  <a:cubicBezTo>
                    <a:pt x="4765675" y="53467"/>
                    <a:pt x="4730877" y="18796"/>
                    <a:pt x="4687951" y="18796"/>
                  </a:cubicBezTo>
                  <a:lnTo>
                    <a:pt x="96393" y="18796"/>
                  </a:lnTo>
                  <a:lnTo>
                    <a:pt x="96393" y="9398"/>
                  </a:lnTo>
                  <a:lnTo>
                    <a:pt x="96393" y="18796"/>
                  </a:lnTo>
                  <a:cubicBezTo>
                    <a:pt x="53467" y="18796"/>
                    <a:pt x="18669" y="53467"/>
                    <a:pt x="18669" y="96266"/>
                  </a:cubicBezTo>
                  <a:close/>
                </a:path>
              </a:pathLst>
            </a:custGeom>
            <a:solidFill>
              <a:srgbClr val="D9D9D9"/>
            </a:solidFill>
          </p:spPr>
        </p:sp>
      </p:grpSp>
      <p:sp>
        <p:nvSpPr>
          <p:cNvPr id="10" name="Freeform 10"/>
          <p:cNvSpPr/>
          <p:nvPr/>
        </p:nvSpPr>
        <p:spPr>
          <a:xfrm>
            <a:off x="8175678" y="3053029"/>
            <a:ext cx="2270664" cy="1157841"/>
          </a:xfrm>
          <a:custGeom>
            <a:avLst/>
            <a:gdLst/>
            <a:ahLst/>
            <a:cxnLst/>
            <a:rect l="l" t="t" r="r" b="b"/>
            <a:pathLst>
              <a:path w="2270664" h="1157841">
                <a:moveTo>
                  <a:pt x="0" y="0"/>
                </a:moveTo>
                <a:lnTo>
                  <a:pt x="2270664" y="0"/>
                </a:lnTo>
                <a:lnTo>
                  <a:pt x="2270664" y="1157841"/>
                </a:lnTo>
                <a:lnTo>
                  <a:pt x="0" y="115784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0" r="-10"/>
            </a:stretch>
          </a:blipFill>
        </p:spPr>
      </p:sp>
      <p:sp>
        <p:nvSpPr>
          <p:cNvPr id="13" name="TextBox 13"/>
          <p:cNvSpPr txBox="1"/>
          <p:nvPr/>
        </p:nvSpPr>
        <p:spPr>
          <a:xfrm>
            <a:off x="6006252" y="9096412"/>
            <a:ext cx="6416270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Đảm bảo nguyên liệu trên mỗi máng dẫn được trải đều, tránh chồng xếp lên nhau.</a:t>
            </a: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phân loại Deep Learning AI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6834746" y="1850310"/>
            <a:ext cx="3873960" cy="2309580"/>
            <a:chOff x="0" y="0"/>
            <a:chExt cx="5165280" cy="3079440"/>
          </a:xfrm>
        </p:grpSpPr>
        <p:grpSp>
          <p:nvGrpSpPr>
            <p:cNvPr id="10" name="Group 10"/>
            <p:cNvGrpSpPr/>
            <p:nvPr/>
          </p:nvGrpSpPr>
          <p:grpSpPr>
            <a:xfrm>
              <a:off x="0" y="0"/>
              <a:ext cx="5165280" cy="3079440"/>
              <a:chOff x="0" y="0"/>
              <a:chExt cx="5165280" cy="307944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5165217" cy="3079496"/>
              </a:xfrm>
              <a:custGeom>
                <a:avLst/>
                <a:gdLst/>
                <a:ahLst/>
                <a:cxnLst/>
                <a:rect l="l" t="t" r="r" b="b"/>
                <a:pathLst>
                  <a:path w="5165217" h="3079496">
                    <a:moveTo>
                      <a:pt x="0" y="96266"/>
                    </a:moveTo>
                    <a:cubicBezTo>
                      <a:pt x="0" y="43053"/>
                      <a:pt x="43180" y="0"/>
                      <a:pt x="96393" y="0"/>
                    </a:cubicBezTo>
                    <a:lnTo>
                      <a:pt x="5068824" y="0"/>
                    </a:lnTo>
                    <a:lnTo>
                      <a:pt x="5068824" y="9398"/>
                    </a:lnTo>
                    <a:lnTo>
                      <a:pt x="5068824" y="0"/>
                    </a:lnTo>
                    <a:cubicBezTo>
                      <a:pt x="5122037" y="0"/>
                      <a:pt x="5165217" y="43053"/>
                      <a:pt x="5165217" y="96266"/>
                    </a:cubicBezTo>
                    <a:lnTo>
                      <a:pt x="5155819" y="96266"/>
                    </a:lnTo>
                    <a:lnTo>
                      <a:pt x="5165217" y="96266"/>
                    </a:lnTo>
                    <a:lnTo>
                      <a:pt x="5165217" y="2983230"/>
                    </a:lnTo>
                    <a:lnTo>
                      <a:pt x="5155819" y="2983230"/>
                    </a:lnTo>
                    <a:lnTo>
                      <a:pt x="5165217" y="2983230"/>
                    </a:lnTo>
                    <a:cubicBezTo>
                      <a:pt x="5165217" y="3036443"/>
                      <a:pt x="5122037" y="3079496"/>
                      <a:pt x="5068824" y="3079496"/>
                    </a:cubicBezTo>
                    <a:lnTo>
                      <a:pt x="5068824" y="3070098"/>
                    </a:lnTo>
                    <a:lnTo>
                      <a:pt x="5068824" y="3079496"/>
                    </a:lnTo>
                    <a:lnTo>
                      <a:pt x="96393" y="3079496"/>
                    </a:lnTo>
                    <a:lnTo>
                      <a:pt x="96393" y="3070098"/>
                    </a:lnTo>
                    <a:lnTo>
                      <a:pt x="96393" y="3079496"/>
                    </a:lnTo>
                    <a:cubicBezTo>
                      <a:pt x="43180" y="3079496"/>
                      <a:pt x="0" y="3036443"/>
                      <a:pt x="0" y="2983230"/>
                    </a:cubicBezTo>
                    <a:lnTo>
                      <a:pt x="0" y="96266"/>
                    </a:lnTo>
                    <a:lnTo>
                      <a:pt x="9398" y="96266"/>
                    </a:lnTo>
                    <a:lnTo>
                      <a:pt x="0" y="96266"/>
                    </a:lnTo>
                    <a:moveTo>
                      <a:pt x="18669" y="96266"/>
                    </a:moveTo>
                    <a:lnTo>
                      <a:pt x="18669" y="2983230"/>
                    </a:lnTo>
                    <a:lnTo>
                      <a:pt x="9398" y="2983230"/>
                    </a:lnTo>
                    <a:lnTo>
                      <a:pt x="18796" y="2983230"/>
                    </a:lnTo>
                    <a:cubicBezTo>
                      <a:pt x="18796" y="3026029"/>
                      <a:pt x="53594" y="3060700"/>
                      <a:pt x="96520" y="3060700"/>
                    </a:cubicBezTo>
                    <a:lnTo>
                      <a:pt x="5068824" y="3060700"/>
                    </a:lnTo>
                    <a:cubicBezTo>
                      <a:pt x="5111750" y="3060700"/>
                      <a:pt x="5146548" y="3026029"/>
                      <a:pt x="5146548" y="2983230"/>
                    </a:cubicBezTo>
                    <a:lnTo>
                      <a:pt x="5146548" y="96266"/>
                    </a:lnTo>
                    <a:cubicBezTo>
                      <a:pt x="5146548" y="53467"/>
                      <a:pt x="5111750" y="18796"/>
                      <a:pt x="5068824" y="18796"/>
                    </a:cubicBezTo>
                    <a:lnTo>
                      <a:pt x="96393" y="18796"/>
                    </a:lnTo>
                    <a:lnTo>
                      <a:pt x="96393" y="9398"/>
                    </a:lnTo>
                    <a:lnTo>
                      <a:pt x="96393" y="18796"/>
                    </a:lnTo>
                    <a:cubicBezTo>
                      <a:pt x="53467" y="18796"/>
                      <a:pt x="18669" y="53467"/>
                      <a:pt x="18669" y="96266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sp>
          <p:nvSpPr>
            <p:cNvPr id="12" name="Freeform 12"/>
            <p:cNvSpPr/>
            <p:nvPr/>
          </p:nvSpPr>
          <p:spPr>
            <a:xfrm>
              <a:off x="1551806" y="959040"/>
              <a:ext cx="1975268" cy="1691640"/>
            </a:xfrm>
            <a:custGeom>
              <a:avLst/>
              <a:gdLst/>
              <a:ahLst/>
              <a:cxnLst/>
              <a:rect l="l" t="t" r="r" b="b"/>
              <a:pathLst>
                <a:path w="1975268" h="1691640">
                  <a:moveTo>
                    <a:pt x="0" y="0"/>
                  </a:moveTo>
                  <a:lnTo>
                    <a:pt x="1975268" y="0"/>
                  </a:lnTo>
                  <a:lnTo>
                    <a:pt x="1975268" y="1691640"/>
                  </a:lnTo>
                  <a:lnTo>
                    <a:pt x="0" y="169164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21" name="TextBox 21"/>
          <p:cNvSpPr txBox="1"/>
          <p:nvPr/>
        </p:nvSpPr>
        <p:spPr>
          <a:xfrm>
            <a:off x="5769898" y="4323617"/>
            <a:ext cx="6416270" cy="92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400"/>
              </a:lnSpc>
              <a:spcBef>
                <a:spcPct val="0"/>
              </a:spcBef>
            </a:pPr>
            <a:r>
              <a:rPr lang="en-US" sz="2000" spc="-1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Bằng trí tuệ nhân tạo AI, mang tính đột phá đột phá cho ngành phân loại màu, đánh dấu bước tiến từ “nhận diện” sang “hiểu biết”.</a:t>
            </a:r>
          </a:p>
        </p:txBody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120159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hợp nhất đa điểm ảnh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564380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grpSp>
        <p:nvGrpSpPr>
          <p:cNvPr id="9" name="Group 9"/>
          <p:cNvGrpSpPr/>
          <p:nvPr/>
        </p:nvGrpSpPr>
        <p:grpSpPr>
          <a:xfrm>
            <a:off x="5004405" y="2332861"/>
            <a:ext cx="8279190" cy="4053812"/>
            <a:chOff x="0" y="0"/>
            <a:chExt cx="11038920" cy="5405082"/>
          </a:xfrm>
        </p:grpSpPr>
        <p:grpSp>
          <p:nvGrpSpPr>
            <p:cNvPr id="10" name="Group 10"/>
            <p:cNvGrpSpPr/>
            <p:nvPr/>
          </p:nvGrpSpPr>
          <p:grpSpPr>
            <a:xfrm>
              <a:off x="589485" y="0"/>
              <a:ext cx="9744105" cy="5405082"/>
              <a:chOff x="0" y="0"/>
              <a:chExt cx="4784400" cy="2653920"/>
            </a:xfrm>
          </p:grpSpPr>
          <p:sp>
            <p:nvSpPr>
              <p:cNvPr id="11" name="Freeform 11"/>
              <p:cNvSpPr/>
              <p:nvPr/>
            </p:nvSpPr>
            <p:spPr>
              <a:xfrm>
                <a:off x="0" y="0"/>
                <a:ext cx="4784344" cy="2653919"/>
              </a:xfrm>
              <a:custGeom>
                <a:avLst/>
                <a:gdLst/>
                <a:ahLst/>
                <a:cxnLst/>
                <a:rect l="l" t="t" r="r" b="b"/>
                <a:pathLst>
                  <a:path w="4784344" h="2653919">
                    <a:moveTo>
                      <a:pt x="0" y="84201"/>
                    </a:moveTo>
                    <a:cubicBezTo>
                      <a:pt x="0" y="37592"/>
                      <a:pt x="37846" y="0"/>
                      <a:pt x="84328" y="0"/>
                    </a:cubicBezTo>
                    <a:lnTo>
                      <a:pt x="4700016" y="0"/>
                    </a:lnTo>
                    <a:lnTo>
                      <a:pt x="4700016" y="9398"/>
                    </a:lnTo>
                    <a:lnTo>
                      <a:pt x="4700016" y="0"/>
                    </a:lnTo>
                    <a:cubicBezTo>
                      <a:pt x="4746625" y="0"/>
                      <a:pt x="4784344" y="37592"/>
                      <a:pt x="4784344" y="84201"/>
                    </a:cubicBezTo>
                    <a:lnTo>
                      <a:pt x="4774946" y="84201"/>
                    </a:lnTo>
                    <a:lnTo>
                      <a:pt x="4784344" y="84201"/>
                    </a:lnTo>
                    <a:lnTo>
                      <a:pt x="4784344" y="2569718"/>
                    </a:lnTo>
                    <a:lnTo>
                      <a:pt x="4774946" y="2569718"/>
                    </a:lnTo>
                    <a:lnTo>
                      <a:pt x="4784344" y="2569718"/>
                    </a:lnTo>
                    <a:cubicBezTo>
                      <a:pt x="4784344" y="2616200"/>
                      <a:pt x="4746498" y="2653919"/>
                      <a:pt x="4700016" y="2653919"/>
                    </a:cubicBezTo>
                    <a:lnTo>
                      <a:pt x="4700016" y="2644521"/>
                    </a:lnTo>
                    <a:lnTo>
                      <a:pt x="4700016" y="2653919"/>
                    </a:lnTo>
                    <a:lnTo>
                      <a:pt x="84328" y="2653919"/>
                    </a:lnTo>
                    <a:lnTo>
                      <a:pt x="84328" y="2644521"/>
                    </a:lnTo>
                    <a:lnTo>
                      <a:pt x="84328" y="2653919"/>
                    </a:lnTo>
                    <a:cubicBezTo>
                      <a:pt x="37719" y="2653919"/>
                      <a:pt x="0" y="2616327"/>
                      <a:pt x="0" y="2569718"/>
                    </a:cubicBezTo>
                    <a:lnTo>
                      <a:pt x="0" y="84201"/>
                    </a:lnTo>
                    <a:lnTo>
                      <a:pt x="9398" y="84201"/>
                    </a:lnTo>
                    <a:lnTo>
                      <a:pt x="0" y="84201"/>
                    </a:lnTo>
                    <a:moveTo>
                      <a:pt x="18669" y="84201"/>
                    </a:moveTo>
                    <a:lnTo>
                      <a:pt x="18669" y="2569718"/>
                    </a:lnTo>
                    <a:lnTo>
                      <a:pt x="9398" y="2569718"/>
                    </a:lnTo>
                    <a:lnTo>
                      <a:pt x="18796" y="2569718"/>
                    </a:lnTo>
                    <a:cubicBezTo>
                      <a:pt x="18796" y="2605786"/>
                      <a:pt x="48133" y="2635123"/>
                      <a:pt x="84455" y="2635123"/>
                    </a:cubicBezTo>
                    <a:lnTo>
                      <a:pt x="4700016" y="2635123"/>
                    </a:lnTo>
                    <a:cubicBezTo>
                      <a:pt x="4736338" y="2635123"/>
                      <a:pt x="4765675" y="2605786"/>
                      <a:pt x="4765675" y="2569718"/>
                    </a:cubicBezTo>
                    <a:lnTo>
                      <a:pt x="4765675" y="84201"/>
                    </a:lnTo>
                    <a:cubicBezTo>
                      <a:pt x="4765675" y="48133"/>
                      <a:pt x="4736338" y="18796"/>
                      <a:pt x="4700016" y="18796"/>
                    </a:cubicBezTo>
                    <a:lnTo>
                      <a:pt x="84328" y="18796"/>
                    </a:lnTo>
                    <a:lnTo>
                      <a:pt x="84328" y="9398"/>
                    </a:lnTo>
                    <a:lnTo>
                      <a:pt x="84328" y="18796"/>
                    </a:lnTo>
                    <a:cubicBezTo>
                      <a:pt x="48006" y="18796"/>
                      <a:pt x="18669" y="48133"/>
                      <a:pt x="18669" y="84201"/>
                    </a:cubicBezTo>
                    <a:close/>
                  </a:path>
                </a:pathLst>
              </a:custGeom>
              <a:solidFill>
                <a:srgbClr val="D9D9D9"/>
              </a:solidFill>
            </p:spPr>
          </p:sp>
        </p:grpSp>
        <p:grpSp>
          <p:nvGrpSpPr>
            <p:cNvPr id="12" name="Group 12"/>
            <p:cNvGrpSpPr/>
            <p:nvPr/>
          </p:nvGrpSpPr>
          <p:grpSpPr>
            <a:xfrm>
              <a:off x="0" y="645208"/>
              <a:ext cx="11038920" cy="1004471"/>
              <a:chOff x="0" y="0"/>
              <a:chExt cx="5420160" cy="493200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5420160" cy="493200"/>
              </a:xfrm>
              <a:custGeom>
                <a:avLst/>
                <a:gdLst/>
                <a:ahLst/>
                <a:cxnLst/>
                <a:rect l="l" t="t" r="r" b="b"/>
                <a:pathLst>
                  <a:path w="5420160" h="493200">
                    <a:moveTo>
                      <a:pt x="0" y="0"/>
                    </a:moveTo>
                    <a:lnTo>
                      <a:pt x="5420160" y="0"/>
                    </a:lnTo>
                    <a:lnTo>
                      <a:pt x="5420160" y="493200"/>
                    </a:lnTo>
                    <a:lnTo>
                      <a:pt x="0" y="493200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9525"/>
                <a:ext cx="5420160" cy="502725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ctr">
                  <a:lnSpc>
                    <a:spcPts val="1799"/>
                  </a:lnSpc>
                </a:pPr>
                <a:r>
                  <a:rPr lang="en-US" sz="1499" spc="-1">
                    <a:solidFill>
                      <a:srgbClr val="000000"/>
                    </a:solidFill>
                    <a:latin typeface="Arimo"/>
                    <a:ea typeface="Arimo"/>
                    <a:cs typeface="Arimo"/>
                    <a:sym typeface="Arimo"/>
                  </a:rPr>
                  <a:t>Công nghệ MPF (Hợp nhất đa điểm ảnh)</a:t>
                </a:r>
              </a:p>
            </p:txBody>
          </p:sp>
        </p:grpSp>
        <p:sp>
          <p:nvSpPr>
            <p:cNvPr id="15" name="Freeform 15"/>
            <p:cNvSpPr/>
            <p:nvPr/>
          </p:nvSpPr>
          <p:spPr>
            <a:xfrm>
              <a:off x="636792" y="2321526"/>
              <a:ext cx="9619080" cy="2204877"/>
            </a:xfrm>
            <a:custGeom>
              <a:avLst/>
              <a:gdLst/>
              <a:ahLst/>
              <a:cxnLst/>
              <a:rect l="l" t="t" r="r" b="b"/>
              <a:pathLst>
                <a:path w="9619080" h="2204877">
                  <a:moveTo>
                    <a:pt x="0" y="0"/>
                  </a:moveTo>
                  <a:lnTo>
                    <a:pt x="9619080" y="0"/>
                  </a:lnTo>
                  <a:lnTo>
                    <a:pt x="9619080" y="2204878"/>
                  </a:lnTo>
                  <a:lnTo>
                    <a:pt x="0" y="220487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</p:sp>
      </p:grpSp>
      <p:sp>
        <p:nvSpPr>
          <p:cNvPr id="16" name="TextBox 16"/>
          <p:cNvSpPr txBox="1"/>
          <p:nvPr/>
        </p:nvSpPr>
        <p:spPr>
          <a:xfrm>
            <a:off x="5585751" y="6862922"/>
            <a:ext cx="7341597" cy="92370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Căn cứ vào đặc điểm vùng quang phổ hồng ngoại từ đó phân biệt được nhiều nguyên liệu khác nhau về bản chất ngoại quang.</a:t>
            </a:r>
          </a:p>
        </p:txBody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3"/>
          <p:cNvGrpSpPr/>
          <p:nvPr/>
        </p:nvGrpSpPr>
        <p:grpSpPr>
          <a:xfrm>
            <a:off x="3034941" y="1330811"/>
            <a:ext cx="13599360" cy="730151"/>
            <a:chOff x="0" y="0"/>
            <a:chExt cx="18132480" cy="973534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18132481" cy="973534"/>
            </a:xfrm>
            <a:custGeom>
              <a:avLst/>
              <a:gdLst/>
              <a:ahLst/>
              <a:cxnLst/>
              <a:rect l="l" t="t" r="r" b="b"/>
              <a:pathLst>
                <a:path w="18132481" h="973534">
                  <a:moveTo>
                    <a:pt x="0" y="0"/>
                  </a:moveTo>
                  <a:lnTo>
                    <a:pt x="18132481" y="0"/>
                  </a:lnTo>
                  <a:lnTo>
                    <a:pt x="18132481" y="973534"/>
                  </a:lnTo>
                  <a:lnTo>
                    <a:pt x="0" y="973534"/>
                  </a:lnTo>
                  <a:close/>
                </a:path>
              </a:pathLst>
            </a:custGeom>
            <a:solidFill>
              <a:srgbClr val="000000">
                <a:alpha val="0"/>
              </a:srgbClr>
            </a:solidFill>
          </p:spPr>
        </p:sp>
        <p:sp>
          <p:nvSpPr>
            <p:cNvPr id="5" name="TextBox 5"/>
            <p:cNvSpPr txBox="1"/>
            <p:nvPr/>
          </p:nvSpPr>
          <p:spPr>
            <a:xfrm>
              <a:off x="0" y="-28575"/>
              <a:ext cx="18132480" cy="1002109"/>
            </a:xfrm>
            <a:prstGeom prst="rect">
              <a:avLst/>
            </a:prstGeom>
          </p:spPr>
          <p:txBody>
            <a:bodyPr lIns="0" tIns="0" rIns="0" bIns="0" rtlCol="0" anchor="t"/>
            <a:lstStyle/>
            <a:p>
              <a:pPr algn="l">
                <a:lnSpc>
                  <a:spcPts val="4320"/>
                </a:lnSpc>
              </a:pPr>
              <a:r>
                <a:rPr lang="en-US" sz="3600" b="1" spc="-1">
                  <a:solidFill>
                    <a:srgbClr val="3A3A3A"/>
                  </a:solidFill>
                  <a:latin typeface="Arimo Bold"/>
                  <a:ea typeface="Arimo Bold"/>
                  <a:cs typeface="Arimo Bold"/>
                  <a:sym typeface="Arimo Bold"/>
                </a:rPr>
                <a:t>Công nghệ điều khiển kiểu đám mây</a:t>
              </a:r>
            </a:p>
          </p:txBody>
        </p:sp>
      </p:grpSp>
      <p:grpSp>
        <p:nvGrpSpPr>
          <p:cNvPr id="6" name="Group 6"/>
          <p:cNvGrpSpPr/>
          <p:nvPr/>
        </p:nvGrpSpPr>
        <p:grpSpPr>
          <a:xfrm>
            <a:off x="1869480" y="1804773"/>
            <a:ext cx="907200" cy="83700"/>
            <a:chOff x="0" y="0"/>
            <a:chExt cx="1209600" cy="111600"/>
          </a:xfrm>
        </p:grpSpPr>
        <p:sp>
          <p:nvSpPr>
            <p:cNvPr id="7" name="Freeform 7"/>
            <p:cNvSpPr/>
            <p:nvPr/>
          </p:nvSpPr>
          <p:spPr>
            <a:xfrm>
              <a:off x="0" y="0"/>
              <a:ext cx="1209548" cy="111633"/>
            </a:xfrm>
            <a:custGeom>
              <a:avLst/>
              <a:gdLst/>
              <a:ahLst/>
              <a:cxnLst/>
              <a:rect l="l" t="t" r="r" b="b"/>
              <a:pathLst>
                <a:path w="1209548" h="111633">
                  <a:moveTo>
                    <a:pt x="0" y="0"/>
                  </a:moveTo>
                  <a:lnTo>
                    <a:pt x="1209548" y="0"/>
                  </a:lnTo>
                  <a:lnTo>
                    <a:pt x="1209548" y="111633"/>
                  </a:lnTo>
                  <a:lnTo>
                    <a:pt x="0" y="111633"/>
                  </a:lnTo>
                  <a:close/>
                </a:path>
              </a:pathLst>
            </a:custGeom>
            <a:solidFill>
              <a:srgbClr val="47D45A"/>
            </a:solidFill>
          </p:spPr>
        </p:sp>
      </p:grpSp>
      <p:sp>
        <p:nvSpPr>
          <p:cNvPr id="9" name="Freeform 9"/>
          <p:cNvSpPr/>
          <p:nvPr/>
        </p:nvSpPr>
        <p:spPr>
          <a:xfrm>
            <a:off x="2020591" y="2489587"/>
            <a:ext cx="2028699" cy="1153574"/>
          </a:xfrm>
          <a:custGeom>
            <a:avLst/>
            <a:gdLst/>
            <a:ahLst/>
            <a:cxnLst/>
            <a:rect l="l" t="t" r="r" b="b"/>
            <a:pathLst>
              <a:path w="2028699" h="1153574">
                <a:moveTo>
                  <a:pt x="0" y="0"/>
                </a:moveTo>
                <a:lnTo>
                  <a:pt x="2028699" y="0"/>
                </a:lnTo>
                <a:lnTo>
                  <a:pt x="2028699" y="1153574"/>
                </a:lnTo>
                <a:lnTo>
                  <a:pt x="0" y="1153574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</p:sp>
      <p:sp>
        <p:nvSpPr>
          <p:cNvPr id="10" name="TextBox 10"/>
          <p:cNvSpPr txBox="1"/>
          <p:nvPr/>
        </p:nvSpPr>
        <p:spPr>
          <a:xfrm>
            <a:off x="4373537" y="2752123"/>
            <a:ext cx="11007345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Công nghệ phân loại chất lượng được hỗ trợ bởi AI, giúp xử lý tốc độ cao với các thuật toán thông minh và phân tích dữ liệu logic.</a:t>
            </a:r>
          </a:p>
        </p:txBody>
      </p:sp>
      <p:grpSp>
        <p:nvGrpSpPr>
          <p:cNvPr id="11" name="Group 11"/>
          <p:cNvGrpSpPr/>
          <p:nvPr/>
        </p:nvGrpSpPr>
        <p:grpSpPr>
          <a:xfrm>
            <a:off x="1869480" y="4005111"/>
            <a:ext cx="14764821" cy="730151"/>
            <a:chOff x="0" y="0"/>
            <a:chExt cx="19686428" cy="973534"/>
          </a:xfrm>
        </p:grpSpPr>
        <p:grpSp>
          <p:nvGrpSpPr>
            <p:cNvPr id="12" name="Group 12"/>
            <p:cNvGrpSpPr/>
            <p:nvPr/>
          </p:nvGrpSpPr>
          <p:grpSpPr>
            <a:xfrm>
              <a:off x="1553948" y="0"/>
              <a:ext cx="18132480" cy="973534"/>
              <a:chOff x="0" y="0"/>
              <a:chExt cx="18132480" cy="973534"/>
            </a:xfrm>
          </p:grpSpPr>
          <p:sp>
            <p:nvSpPr>
              <p:cNvPr id="13" name="Freeform 13"/>
              <p:cNvSpPr/>
              <p:nvPr/>
            </p:nvSpPr>
            <p:spPr>
              <a:xfrm>
                <a:off x="0" y="0"/>
                <a:ext cx="18132481" cy="973534"/>
              </a:xfrm>
              <a:custGeom>
                <a:avLst/>
                <a:gdLst/>
                <a:ahLst/>
                <a:cxnLst/>
                <a:rect l="l" t="t" r="r" b="b"/>
                <a:pathLst>
                  <a:path w="18132481" h="973534">
                    <a:moveTo>
                      <a:pt x="0" y="0"/>
                    </a:moveTo>
                    <a:lnTo>
                      <a:pt x="18132481" y="0"/>
                    </a:lnTo>
                    <a:lnTo>
                      <a:pt x="18132481" y="973534"/>
                    </a:lnTo>
                    <a:lnTo>
                      <a:pt x="0" y="973534"/>
                    </a:lnTo>
                    <a:close/>
                  </a:path>
                </a:pathLst>
              </a:custGeom>
              <a:solidFill>
                <a:srgbClr val="000000">
                  <a:alpha val="0"/>
                </a:srgbClr>
              </a:solidFill>
            </p:spPr>
          </p:sp>
          <p:sp>
            <p:nvSpPr>
              <p:cNvPr id="14" name="TextBox 14"/>
              <p:cNvSpPr txBox="1"/>
              <p:nvPr/>
            </p:nvSpPr>
            <p:spPr>
              <a:xfrm>
                <a:off x="0" y="-28575"/>
                <a:ext cx="18132480" cy="1002109"/>
              </a:xfrm>
              <a:prstGeom prst="rect">
                <a:avLst/>
              </a:prstGeom>
            </p:spPr>
            <p:txBody>
              <a:bodyPr lIns="0" tIns="0" rIns="0" bIns="0" rtlCol="0" anchor="t"/>
              <a:lstStyle/>
              <a:p>
                <a:pPr algn="l">
                  <a:lnSpc>
                    <a:spcPts val="4320"/>
                  </a:lnSpc>
                </a:pPr>
                <a:r>
                  <a:rPr lang="en-US" sz="3600" b="1" spc="-1">
                    <a:solidFill>
                      <a:srgbClr val="3A3A3A"/>
                    </a:solidFill>
                    <a:latin typeface="Arimo Bold"/>
                    <a:ea typeface="Arimo Bold"/>
                    <a:cs typeface="Arimo Bold"/>
                    <a:sym typeface="Arimo Bold"/>
                  </a:rPr>
                  <a:t>Công nghệ Camera mắt diều hâu 3.0</a:t>
                </a:r>
              </a:p>
            </p:txBody>
          </p:sp>
        </p:grpSp>
        <p:grpSp>
          <p:nvGrpSpPr>
            <p:cNvPr id="15" name="Group 15"/>
            <p:cNvGrpSpPr/>
            <p:nvPr/>
          </p:nvGrpSpPr>
          <p:grpSpPr>
            <a:xfrm>
              <a:off x="0" y="592294"/>
              <a:ext cx="1209600" cy="111600"/>
              <a:chOff x="0" y="0"/>
              <a:chExt cx="1209600" cy="111600"/>
            </a:xfrm>
          </p:grpSpPr>
          <p:sp>
            <p:nvSpPr>
              <p:cNvPr id="16" name="Freeform 16"/>
              <p:cNvSpPr/>
              <p:nvPr/>
            </p:nvSpPr>
            <p:spPr>
              <a:xfrm>
                <a:off x="0" y="0"/>
                <a:ext cx="1209548" cy="111633"/>
              </a:xfrm>
              <a:custGeom>
                <a:avLst/>
                <a:gdLst/>
                <a:ahLst/>
                <a:cxnLst/>
                <a:rect l="l" t="t" r="r" b="b"/>
                <a:pathLst>
                  <a:path w="1209548" h="111633">
                    <a:moveTo>
                      <a:pt x="0" y="0"/>
                    </a:moveTo>
                    <a:lnTo>
                      <a:pt x="1209548" y="0"/>
                    </a:lnTo>
                    <a:lnTo>
                      <a:pt x="1209548" y="111633"/>
                    </a:lnTo>
                    <a:lnTo>
                      <a:pt x="0" y="111633"/>
                    </a:lnTo>
                    <a:close/>
                  </a:path>
                </a:pathLst>
              </a:custGeom>
              <a:solidFill>
                <a:srgbClr val="47D45A"/>
              </a:solidFill>
            </p:spPr>
          </p:sp>
        </p:grpSp>
      </p:grpSp>
      <p:sp>
        <p:nvSpPr>
          <p:cNvPr id="17" name="TextBox 17"/>
          <p:cNvSpPr txBox="1"/>
          <p:nvPr/>
        </p:nvSpPr>
        <p:spPr>
          <a:xfrm>
            <a:off x="4373537" y="4930544"/>
            <a:ext cx="11192874" cy="6189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400"/>
              </a:lnSpc>
              <a:spcBef>
                <a:spcPct val="0"/>
              </a:spcBef>
            </a:pPr>
            <a:r>
              <a:rPr lang="en-US" sz="2000" spc="6">
                <a:solidFill>
                  <a:srgbClr val="000000"/>
                </a:solidFill>
                <a:latin typeface="Arimo"/>
                <a:ea typeface="Arimo"/>
                <a:cs typeface="Arimo"/>
                <a:sym typeface="Arimo"/>
              </a:rPr>
              <a:t>Hệ thống camera mắt diều hâu + camera holographic nhận biết chính xác những khác biệt nhỏ về màu sắc và hình dạng.</a:t>
            </a:r>
          </a:p>
        </p:txBody>
      </p:sp>
      <p:sp>
        <p:nvSpPr>
          <p:cNvPr id="18" name="Freeform 18"/>
          <p:cNvSpPr/>
          <p:nvPr/>
        </p:nvSpPr>
        <p:spPr>
          <a:xfrm>
            <a:off x="2020591" y="4750704"/>
            <a:ext cx="1915568" cy="1315464"/>
          </a:xfrm>
          <a:custGeom>
            <a:avLst/>
            <a:gdLst/>
            <a:ahLst/>
            <a:cxnLst/>
            <a:rect l="l" t="t" r="r" b="b"/>
            <a:pathLst>
              <a:path w="1915568" h="1315464">
                <a:moveTo>
                  <a:pt x="0" y="0"/>
                </a:moveTo>
                <a:lnTo>
                  <a:pt x="1915568" y="0"/>
                </a:lnTo>
                <a:lnTo>
                  <a:pt x="1915568" y="1315464"/>
                </a:lnTo>
                <a:lnTo>
                  <a:pt x="0" y="131546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7964"/>
            </a:stretch>
          </a:blipFill>
        </p:spPr>
      </p:sp>
    </p:spTree>
  </p:cSld>
  <p:clrMapOvr>
    <a:masterClrMapping/>
  </p:clrMapOvr>
  <p:transition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cfd80025-6475-4237-a7c6-e7c9a98c6820" xsi:nil="true"/>
    <lcf76f155ced4ddcb4097134ff3c332f xmlns="83f55c39-acef-4460-a735-3f4b57f232ed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AAD6CF4703E1424FA7FF622E3867A041" ma:contentTypeVersion="17" ma:contentTypeDescription="Create a new document." ma:contentTypeScope="" ma:versionID="20e2c4d3449453059d80ecbae52a3695">
  <xsd:schema xmlns:xsd="http://www.w3.org/2001/XMLSchema" xmlns:xs="http://www.w3.org/2001/XMLSchema" xmlns:p="http://schemas.microsoft.com/office/2006/metadata/properties" xmlns:ns2="83f55c39-acef-4460-a735-3f4b57f232ed" xmlns:ns3="cfd80025-6475-4237-a7c6-e7c9a98c6820" targetNamespace="http://schemas.microsoft.com/office/2006/metadata/properties" ma:root="true" ma:fieldsID="3a2b89cee53b993185402340728f2b99" ns2:_="" ns3:_="">
    <xsd:import namespace="83f55c39-acef-4460-a735-3f4b57f232ed"/>
    <xsd:import namespace="cfd80025-6475-4237-a7c6-e7c9a98c6820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LengthInSeconds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lcf76f155ced4ddcb4097134ff3c332f" minOccurs="0"/>
                <xsd:element ref="ns3:TaxCatchAll" minOccurs="0"/>
                <xsd:element ref="ns2:MediaServiceLocation" minOccurs="0"/>
                <xsd:element ref="ns2:MediaServiceObjectDetectorVersions" minOccurs="0"/>
                <xsd:element ref="ns2:MediaServiceSearchPropertie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3f55c39-acef-4460-a735-3f4b57f232ed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LengthInSeconds" ma:index="13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4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lcf76f155ced4ddcb4097134ff3c332f" ma:index="19" nillable="true" ma:taxonomy="true" ma:internalName="lcf76f155ced4ddcb4097134ff3c332f" ma:taxonomyFieldName="MediaServiceImageTags" ma:displayName="Image Tags" ma:readOnly="false" ma:fieldId="{5cf76f15-5ced-4ddc-b409-7134ff3c332f}" ma:taxonomyMulti="true" ma:sspId="28a9c49b-86db-436f-a22f-4238268e2cf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1" nillable="true" ma:displayName="Location" ma:internalName="MediaServiceLocation" ma:readOnly="true">
      <xsd:simpleType>
        <xsd:restriction base="dms:Text"/>
      </xsd:simpleType>
    </xsd:element>
    <xsd:element name="MediaServiceObjectDetectorVersions" ma:index="22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24" nillable="true" ma:displayName="MediaServiceBillingMetadata" ma:hidden="true" ma:internalName="MediaServiceBillingMetadata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fd80025-6475-4237-a7c6-e7c9a98c6820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0" nillable="true" ma:displayName="Taxonomy Catch All Column" ma:hidden="true" ma:list="{37c876ba-79c2-4d30-abb5-79655f061076}" ma:internalName="TaxCatchAll" ma:showField="CatchAllData" ma:web="cfd80025-6475-4237-a7c6-e7c9a98c6820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1E21095A-FC45-4021-84C4-343CD6B17741}">
  <ds:schemaRefs>
    <ds:schemaRef ds:uri="http://schemas.microsoft.com/office/2006/metadata/properties"/>
    <ds:schemaRef ds:uri="http://schemas.microsoft.com/office/infopath/2007/PartnerControls"/>
    <ds:schemaRef ds:uri="cfd80025-6475-4237-a7c6-e7c9a98c6820"/>
    <ds:schemaRef ds:uri="83f55c39-acef-4460-a735-3f4b57f232ed"/>
  </ds:schemaRefs>
</ds:datastoreItem>
</file>

<file path=customXml/itemProps2.xml><?xml version="1.0" encoding="utf-8"?>
<ds:datastoreItem xmlns:ds="http://schemas.openxmlformats.org/officeDocument/2006/customXml" ds:itemID="{A5BB442A-1049-4ECE-8B96-F564130E1CB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83f55c39-acef-4460-a735-3f4b57f232ed"/>
    <ds:schemaRef ds:uri="cfd80025-6475-4237-a7c6-e7c9a98c6820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1C5CAB88-FDD0-4CD2-A666-604D91D9AC8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</TotalTime>
  <Words>239</Words>
  <Application>Microsoft Office PowerPoint</Application>
  <PresentationFormat>Custom</PresentationFormat>
  <Paragraphs>32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Arimo</vt:lpstr>
      <vt:lpstr>Arial</vt:lpstr>
      <vt:lpstr>Calibri</vt:lpstr>
      <vt:lpstr>Arimo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 for tea color sorter dịch.ppt</dc:title>
  <dc:creator>Phan Luong Hai</dc:creator>
  <cp:lastModifiedBy>Phan Luong Hai</cp:lastModifiedBy>
  <cp:revision>2</cp:revision>
  <dcterms:created xsi:type="dcterms:W3CDTF">2006-08-16T00:00:00Z</dcterms:created>
  <dcterms:modified xsi:type="dcterms:W3CDTF">2026-09-15T09:08:39Z</dcterms:modified>
  <dc:identifier>DAGnkZtiDAE</dc:identifie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0x010100AAD6CF4703E1424FA7FF622E3867A041</vt:lpwstr>
  </property>
</Properties>
</file>